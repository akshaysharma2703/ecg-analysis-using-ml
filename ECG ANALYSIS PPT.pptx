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2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14E2E-B0DF-8B60-01B4-7C0DAD0E05A8}" v="734" dt="2026-05-13T23:46:37.622"/>
    <p1510:client id="{C1A47337-25B5-99A1-1DBD-8D02E762F95B}" v="341" dt="2026-05-13T07:54:31.204"/>
    <p1510:client id="{C8B56C13-3AE7-2C2E-7B68-A3448D16FF6E}" v="689" dt="2026-05-13T16:23:56.846"/>
    <p1510:client id="{DF06F45B-D21A-FC32-36C6-857437ED6E23}" v="241" dt="2026-05-13T17:00:39.541"/>
    <p1510:client id="{E8D6593A-BDFF-365E-351C-B202519C15B9}" v="42" dt="2026-05-13T20:13:05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93cd75ef73caabb/Presentation%202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1dAVB</c:v>
                </c:pt>
                <c:pt idx="1">
                  <c:v>ST</c:v>
                </c:pt>
                <c:pt idx="2">
                  <c:v>SB</c:v>
                </c:pt>
                <c:pt idx="3">
                  <c:v>RBBB</c:v>
                </c:pt>
                <c:pt idx="4">
                  <c:v>LBBB</c:v>
                </c:pt>
                <c:pt idx="5">
                  <c:v>AF</c:v>
                </c:pt>
                <c:pt idx="6">
                  <c:v>WPW</c:v>
                </c:pt>
                <c:pt idx="7">
                  <c:v>ST-Elevation</c:v>
                </c:pt>
                <c:pt idx="8">
                  <c:v>V-Tach</c:v>
                </c:pt>
                <c:pt idx="9">
                  <c:v>PVC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0.86699999999999999</c:v>
                </c:pt>
                <c:pt idx="1">
                  <c:v>0.83299999999999996</c:v>
                </c:pt>
                <c:pt idx="2">
                  <c:v>0.94699999999999995</c:v>
                </c:pt>
                <c:pt idx="3">
                  <c:v>0.89500000000000002</c:v>
                </c:pt>
                <c:pt idx="4">
                  <c:v>0.998</c:v>
                </c:pt>
                <c:pt idx="5">
                  <c:v>0.98599999999999999</c:v>
                </c:pt>
                <c:pt idx="6">
                  <c:v>0.87</c:v>
                </c:pt>
                <c:pt idx="7">
                  <c:v>0.85</c:v>
                </c:pt>
                <c:pt idx="8">
                  <c:v>0.92100000000000004</c:v>
                </c:pt>
                <c:pt idx="9">
                  <c:v>0.76600000000000001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7-4330-89DB-16783B494D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1dAVB</c:v>
                </c:pt>
                <c:pt idx="1">
                  <c:v>ST</c:v>
                </c:pt>
                <c:pt idx="2">
                  <c:v>SB</c:v>
                </c:pt>
                <c:pt idx="3">
                  <c:v>RBBB</c:v>
                </c:pt>
                <c:pt idx="4">
                  <c:v>LBBB</c:v>
                </c:pt>
                <c:pt idx="5">
                  <c:v>AF</c:v>
                </c:pt>
                <c:pt idx="6">
                  <c:v>WPW</c:v>
                </c:pt>
                <c:pt idx="7">
                  <c:v>ST-Elevation</c:v>
                </c:pt>
                <c:pt idx="8">
                  <c:v>V-Tach</c:v>
                </c:pt>
                <c:pt idx="9">
                  <c:v>PVC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0.92900000000000005</c:v>
                </c:pt>
                <c:pt idx="1">
                  <c:v>0.93799999999999994</c:v>
                </c:pt>
                <c:pt idx="2">
                  <c:v>0.97299999999999998</c:v>
                </c:pt>
                <c:pt idx="3">
                  <c:v>0.99199999999999999</c:v>
                </c:pt>
                <c:pt idx="4">
                  <c:v>0.98699999999999999</c:v>
                </c:pt>
                <c:pt idx="5">
                  <c:v>0.76900000000000002</c:v>
                </c:pt>
                <c:pt idx="6">
                  <c:v>0.72299999999999998</c:v>
                </c:pt>
                <c:pt idx="7">
                  <c:v>0.89300000000000002</c:v>
                </c:pt>
                <c:pt idx="8">
                  <c:v>0.872</c:v>
                </c:pt>
                <c:pt idx="9">
                  <c:v>0.70899999999999996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47-4330-89DB-16783B494D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1dAVB</c:v>
                </c:pt>
                <c:pt idx="1">
                  <c:v>ST</c:v>
                </c:pt>
                <c:pt idx="2">
                  <c:v>SB</c:v>
                </c:pt>
                <c:pt idx="3">
                  <c:v>RBBB</c:v>
                </c:pt>
                <c:pt idx="4">
                  <c:v>LBBB</c:v>
                </c:pt>
                <c:pt idx="5">
                  <c:v>AF</c:v>
                </c:pt>
                <c:pt idx="6">
                  <c:v>WPW</c:v>
                </c:pt>
                <c:pt idx="7">
                  <c:v>ST-Elevation</c:v>
                </c:pt>
                <c:pt idx="8">
                  <c:v>V-Tach</c:v>
                </c:pt>
                <c:pt idx="9">
                  <c:v>PVC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0.89700000000000002</c:v>
                </c:pt>
                <c:pt idx="1">
                  <c:v>0.96</c:v>
                </c:pt>
                <c:pt idx="2">
                  <c:v>0.88200000000000001</c:v>
                </c:pt>
                <c:pt idx="3">
                  <c:v>0.94399999999999995</c:v>
                </c:pt>
                <c:pt idx="4">
                  <c:v>0.99299999999999999</c:v>
                </c:pt>
                <c:pt idx="5">
                  <c:v>0.87</c:v>
                </c:pt>
                <c:pt idx="6">
                  <c:v>0.77800000000000002</c:v>
                </c:pt>
                <c:pt idx="7">
                  <c:v>0.79200000000000004</c:v>
                </c:pt>
                <c:pt idx="8">
                  <c:v>0.81299999999999994</c:v>
                </c:pt>
                <c:pt idx="9">
                  <c:v>0.81499999999999995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47-4330-89DB-16783B494D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6265599"/>
        <c:axId val="826266079"/>
      </c:barChart>
      <c:catAx>
        <c:axId val="826265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266079"/>
        <c:crosses val="autoZero"/>
        <c:auto val="1"/>
        <c:lblAlgn val="ctr"/>
        <c:lblOffset val="100"/>
        <c:noMultiLvlLbl val="0"/>
      </c:catAx>
      <c:valAx>
        <c:axId val="826266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265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1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5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1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1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0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0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7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0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1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1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4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9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4E267A9A-3339-F8E6-CD25-1670F4B86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2085" y="3271630"/>
            <a:ext cx="7319303" cy="754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ECG Analysis using ML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4" name="Picture 3" descr="A red and white circle with text and a star&#10;&#10;AI-generated content may be incorrect.">
            <a:extLst>
              <a:ext uri="{FF2B5EF4-FFF2-40B4-BE49-F238E27FC236}">
                <a16:creationId xmlns:a16="http://schemas.microsoft.com/office/drawing/2014/main" id="{E32E8ED1-0D27-D610-6BC2-31869EB08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" r="-2" b="-2"/>
          <a:stretch>
            <a:fillRect/>
          </a:stretch>
        </p:blipFill>
        <p:spPr>
          <a:xfrm>
            <a:off x="4664361" y="275731"/>
            <a:ext cx="2871461" cy="299422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29181" y="4311709"/>
            <a:ext cx="4895720" cy="20631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2022UIC3598                </a:t>
            </a:r>
            <a:r>
              <a:rPr lang="en-GB"/>
              <a:t>MAYANK KUMAR</a:t>
            </a:r>
            <a:endParaRPr lang="en-US"/>
          </a:p>
          <a:p>
            <a:pPr algn="l"/>
            <a:r>
              <a:rPr lang="en-US"/>
              <a:t>2022UIC3603                RITIK JAIN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2022UIC3605                </a:t>
            </a:r>
            <a:r>
              <a:rPr lang="en-US"/>
              <a:t>AKHSAY SHARMA</a:t>
            </a:r>
          </a:p>
          <a:p>
            <a:pPr algn="l"/>
            <a:r>
              <a:rPr lang="en-US"/>
              <a:t>2022UIC3635                SHANU YADAV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410D-F5A8-6F2C-7C18-5CE19A91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9E45F-EDFF-1912-7C94-7B3BAAFED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Introduction </a:t>
            </a:r>
          </a:p>
          <a:p>
            <a:r>
              <a:rPr lang="en-GB">
                <a:ea typeface="+mn-lt"/>
                <a:cs typeface="+mn-lt"/>
              </a:rPr>
              <a:t>Literature Survey </a:t>
            </a:r>
          </a:p>
          <a:p>
            <a:r>
              <a:rPr lang="en-GB">
                <a:ea typeface="+mn-lt"/>
                <a:cs typeface="+mn-lt"/>
              </a:rPr>
              <a:t>Gaps Identified </a:t>
            </a:r>
          </a:p>
          <a:p>
            <a:r>
              <a:rPr lang="en-GB">
                <a:ea typeface="+mn-lt"/>
                <a:cs typeface="+mn-lt"/>
              </a:rPr>
              <a:t>Aims/Objectives of the Project </a:t>
            </a:r>
            <a:r>
              <a:rPr lang="en-GB" dirty="0">
                <a:ea typeface="+mn-lt"/>
                <a:cs typeface="+mn-lt"/>
              </a:rPr>
              <a:t> </a:t>
            </a:r>
          </a:p>
          <a:p>
            <a:r>
              <a:rPr lang="en-GB">
                <a:ea typeface="+mn-lt"/>
                <a:cs typeface="+mn-lt"/>
              </a:rPr>
              <a:t>Dataset &amp; Preprocessing</a:t>
            </a:r>
          </a:p>
          <a:p>
            <a:r>
              <a:rPr lang="en-GB">
                <a:ea typeface="+mn-lt"/>
                <a:cs typeface="+mn-lt"/>
              </a:rPr>
              <a:t>Solution Methodology</a:t>
            </a:r>
            <a:endParaRPr lang="en-GB"/>
          </a:p>
          <a:p>
            <a:r>
              <a:rPr lang="en-GB">
                <a:ea typeface="+mn-lt"/>
                <a:cs typeface="+mn-lt"/>
              </a:rPr>
              <a:t>Results </a:t>
            </a:r>
          </a:p>
          <a:p>
            <a:r>
              <a:rPr lang="en-GB">
                <a:ea typeface="+mn-lt"/>
                <a:cs typeface="+mn-lt"/>
              </a:rPr>
              <a:t>Future Scope </a:t>
            </a:r>
          </a:p>
          <a:p>
            <a:r>
              <a:rPr lang="en-GB">
                <a:ea typeface="+mn-lt"/>
                <a:cs typeface="+mn-lt"/>
              </a:rPr>
              <a:t>References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229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7009-423C-D797-FBAD-187EB540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BEB32-5D3A-D4FD-64D8-9C9942EAB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Cardiovascular diseases (CVDs) are the leading cause of death globally. </a:t>
            </a:r>
          </a:p>
          <a:p>
            <a:r>
              <a:rPr lang="en-GB" dirty="0"/>
              <a:t>12 lead ECGs are is a key diagnostic tool for detecting heart </a:t>
            </a:r>
            <a:r>
              <a:rPr lang="en-GB"/>
              <a:t>abnormalities</a:t>
            </a:r>
            <a:r>
              <a:rPr lang="en-GB" dirty="0"/>
              <a:t>. </a:t>
            </a:r>
          </a:p>
          <a:p>
            <a:r>
              <a:rPr lang="en-GB">
                <a:ea typeface="+mn-lt"/>
                <a:cs typeface="+mn-lt"/>
              </a:rPr>
              <a:t>Manual interpretation of ECG strips is time-consuming and prone to human error.</a:t>
            </a:r>
          </a:p>
          <a:p>
            <a:r>
              <a:rPr lang="en-GB">
                <a:ea typeface="+mn-lt"/>
                <a:cs typeface="+mn-lt"/>
              </a:rPr>
              <a:t>To develop a Deep Learning (DL) model capable of segmenting heartbeats (P, QRS, T) and classifying multiple abnormalities with high sensitivity.</a:t>
            </a:r>
          </a:p>
          <a:p>
            <a:r>
              <a:rPr lang="en-GB" dirty="0"/>
              <a:t>Thereby improving accessibility to cardiac diagnosis, primarily in low-resource healthcare settings where expert cardiologist </a:t>
            </a:r>
            <a:r>
              <a:rPr lang="en-GB"/>
              <a:t>are not</a:t>
            </a:r>
            <a:r>
              <a:rPr lang="en-GB" dirty="0"/>
              <a:t> available.</a:t>
            </a:r>
          </a:p>
        </p:txBody>
      </p:sp>
    </p:spTree>
    <p:extLst>
      <p:ext uri="{BB962C8B-B14F-4D97-AF65-F5344CB8AC3E}">
        <p14:creationId xmlns:p14="http://schemas.microsoft.com/office/powerpoint/2010/main" val="407811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A558-88E5-4236-75F1-06855BB5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Gaps Identified      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0E3B-65CB-8559-5201-B06C2CD6A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What’s missing?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1. Most existing models focus only on </a:t>
            </a:r>
            <a:r>
              <a:rPr lang="en-US" b="1" dirty="0">
                <a:ea typeface="+mn-lt"/>
                <a:cs typeface="+mn-lt"/>
              </a:rPr>
              <a:t>classification</a:t>
            </a:r>
            <a:r>
              <a:rPr lang="en-US" dirty="0">
                <a:ea typeface="+mn-lt"/>
                <a:cs typeface="+mn-lt"/>
              </a:rPr>
              <a:t> (Sick vs. Healthy) but ignore </a:t>
            </a:r>
            <a:r>
              <a:rPr lang="en-US" b="1" dirty="0">
                <a:ea typeface="+mn-lt"/>
                <a:cs typeface="+mn-lt"/>
              </a:rPr>
              <a:t>segmentation</a:t>
            </a:r>
            <a:r>
              <a:rPr lang="en-US" dirty="0">
                <a:ea typeface="+mn-lt"/>
                <a:cs typeface="+mn-lt"/>
              </a:rPr>
              <a:t> (where the P/QRS/T waves are).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Lack of explainability—doctors don't trust "Black Box" models.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3. Performance drops </a:t>
            </a:r>
            <a:r>
              <a:rPr lang="en-US" dirty="0">
                <a:ea typeface="+mn-lt"/>
                <a:cs typeface="+mn-lt"/>
              </a:rPr>
              <a:t>in the presence of real-world noise (Motion artifacts).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1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6791-A47E-F836-6FA0-8BE155C6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 of the </a:t>
            </a:r>
            <a:r>
              <a:rPr lang="en-US" err="1"/>
              <a:t>Pr</a:t>
            </a:r>
            <a:r>
              <a:rPr lang="en-US"/>
              <a:t>o</a:t>
            </a:r>
            <a:r>
              <a:rPr lang="en-US" err="1"/>
              <a:t>ject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90FD-B00B-FAE8-6FE4-C910F33CE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To develop a deep </a:t>
            </a:r>
            <a:r>
              <a:rPr lang="en-US" dirty="0" err="1"/>
              <a:t>learning based</a:t>
            </a:r>
            <a:r>
              <a:rPr lang="en-US" dirty="0"/>
              <a:t> automated system capable of accurately detecting and classifying multiple cardiac abnormalities from 12 lead ECG signal, thereby assisting clinicians in fast and reliable heart disease diagnosis.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20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A893-0B49-E554-B417-0BFC6187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Dataset and Preprocessing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CC529-B205-BC3E-7C05-40C7464AA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Dataset Selection:</a:t>
            </a:r>
            <a:r>
              <a:rPr lang="en-US" dirty="0">
                <a:ea typeface="+mn-lt"/>
                <a:cs typeface="+mn-lt"/>
              </a:rPr>
              <a:t> We used </a:t>
            </a:r>
            <a:r>
              <a:rPr lang="en-US" b="1" dirty="0">
                <a:ea typeface="+mn-lt"/>
                <a:cs typeface="+mn-lt"/>
              </a:rPr>
              <a:t>PTB-XL</a:t>
            </a:r>
            <a:r>
              <a:rPr lang="en-US" dirty="0">
                <a:ea typeface="+mn-lt"/>
                <a:cs typeface="+mn-lt"/>
              </a:rPr>
              <a:t> dataset. This dataset contains thousands of heartbeats annotated by expert cardiologists.</a:t>
            </a:r>
          </a:p>
          <a:p>
            <a:r>
              <a:rPr lang="en-US" b="1" dirty="0">
                <a:ea typeface="+mn-lt"/>
                <a:cs typeface="+mn-lt"/>
              </a:rPr>
              <a:t>Filtering: </a:t>
            </a:r>
            <a:r>
              <a:rPr lang="en-US" dirty="0">
                <a:ea typeface="+mn-lt"/>
                <a:cs typeface="+mn-lt"/>
              </a:rPr>
              <a:t>Raw ECGs are messy due to </a:t>
            </a:r>
            <a:r>
              <a:rPr lang="en-US">
                <a:ea typeface="+mn-lt"/>
                <a:cs typeface="+mn-lt"/>
              </a:rPr>
              <a:t>following noises:</a:t>
            </a:r>
          </a:p>
          <a:p>
            <a:pPr lvl="1"/>
            <a:r>
              <a:rPr lang="en-US" b="1">
                <a:ea typeface="+mn-lt"/>
                <a:cs typeface="+mn-lt"/>
              </a:rPr>
              <a:t>Power-line Interference:</a:t>
            </a:r>
            <a:r>
              <a:rPr lang="en-US">
                <a:ea typeface="+mn-lt"/>
                <a:cs typeface="+mn-lt"/>
              </a:rPr>
              <a:t> 50/60 Hz hum from electrical sockets.</a:t>
            </a:r>
          </a:p>
          <a:p>
            <a:pPr lvl="1"/>
            <a:r>
              <a:rPr lang="en-US" b="1">
                <a:ea typeface="+mn-lt"/>
                <a:cs typeface="+mn-lt"/>
              </a:rPr>
              <a:t>Baseline Wander:</a:t>
            </a:r>
            <a:r>
              <a:rPr lang="en-US">
                <a:ea typeface="+mn-lt"/>
                <a:cs typeface="+mn-lt"/>
              </a:rPr>
              <a:t> The "drifting" of the signal caused by the patient breathing.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This ensures the model focuses on the </a:t>
            </a:r>
            <a:r>
              <a:rPr lang="en-US" b="1">
                <a:ea typeface="+mn-lt"/>
                <a:cs typeface="+mn-lt"/>
              </a:rPr>
              <a:t>shape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of the wave, not just how tall it is.</a:t>
            </a:r>
            <a:endParaRPr lang="en-US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3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line graph with numbers&#10;&#10;AI-generated content may be incorrect.">
            <a:extLst>
              <a:ext uri="{FF2B5EF4-FFF2-40B4-BE49-F238E27FC236}">
                <a16:creationId xmlns:a16="http://schemas.microsoft.com/office/drawing/2014/main" id="{810ABA16-EB43-3AC6-00FE-E56043F9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8" y="668255"/>
            <a:ext cx="10316308" cy="2483258"/>
          </a:xfrm>
          <a:prstGeom prst="rect">
            <a:avLst/>
          </a:prstGeom>
        </p:spPr>
      </p:pic>
      <p:pic>
        <p:nvPicPr>
          <p:cNvPr id="5" name="Picture 4" descr="A blue line graph with numbers&#10;&#10;AI-generated content may be incorrect.">
            <a:extLst>
              <a:ext uri="{FF2B5EF4-FFF2-40B4-BE49-F238E27FC236}">
                <a16:creationId xmlns:a16="http://schemas.microsoft.com/office/drawing/2014/main" id="{B682964D-D949-77B7-5C8B-1E6BB26C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32" y="3916526"/>
            <a:ext cx="10316309" cy="2493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255A51-4565-F8D2-1332-DE12F3D472F5}"/>
              </a:ext>
            </a:extLst>
          </p:cNvPr>
          <p:cNvSpPr txBox="1"/>
          <p:nvPr/>
        </p:nvSpPr>
        <p:spPr>
          <a:xfrm>
            <a:off x="5045808" y="301217"/>
            <a:ext cx="2088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Raw ECG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43755-FA7C-D6A7-8E64-923D107E17E2}"/>
              </a:ext>
            </a:extLst>
          </p:cNvPr>
          <p:cNvSpPr txBox="1"/>
          <p:nvPr/>
        </p:nvSpPr>
        <p:spPr>
          <a:xfrm>
            <a:off x="4912294" y="3541345"/>
            <a:ext cx="2362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Filtered ECG Signal</a:t>
            </a:r>
          </a:p>
        </p:txBody>
      </p:sp>
    </p:spTree>
    <p:extLst>
      <p:ext uri="{BB962C8B-B14F-4D97-AF65-F5344CB8AC3E}">
        <p14:creationId xmlns:p14="http://schemas.microsoft.com/office/powerpoint/2010/main" val="203017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7F7C-F01C-4C5E-618C-F85E92D5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Solution Methodology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E39C0-65AA-116B-8538-64533BE07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</a:t>
            </a:r>
            <a:r>
              <a:rPr lang="en-US" b="1" dirty="0">
                <a:ea typeface="+mn-lt"/>
                <a:cs typeface="+mn-lt"/>
              </a:rPr>
              <a:t>Input Layer:</a:t>
            </a:r>
            <a:r>
              <a:rPr lang="en-US">
                <a:ea typeface="+mn-lt"/>
                <a:cs typeface="+mn-lt"/>
              </a:rPr>
              <a:t> The ECG signal is a 1D array of voltage values. 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2. </a:t>
            </a:r>
            <a:r>
              <a:rPr lang="en-US" b="1" dirty="0">
                <a:ea typeface="+mn-lt"/>
                <a:cs typeface="+mn-lt"/>
              </a:rPr>
              <a:t>Preprocessing:</a:t>
            </a:r>
            <a:r>
              <a:rPr lang="en-US" dirty="0">
                <a:ea typeface="+mn-lt"/>
                <a:cs typeface="+mn-lt"/>
              </a:rPr>
              <a:t> 1D-Butterworth Filtering + Z-score Normalization.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3. </a:t>
            </a:r>
            <a:r>
              <a:rPr lang="en-US" b="1" dirty="0">
                <a:ea typeface="+mn-lt"/>
                <a:cs typeface="+mn-lt"/>
              </a:rPr>
              <a:t>Core Model:</a:t>
            </a:r>
            <a:r>
              <a:rPr lang="en-US" dirty="0">
                <a:ea typeface="+mn-lt"/>
                <a:cs typeface="+mn-lt"/>
              </a:rPr>
              <a:t> 1D-CNN (Convolutional Neural Network). The model doesn't look at the whole signal at once. It uses </a:t>
            </a:r>
            <a:r>
              <a:rPr lang="en-US" b="1" dirty="0">
                <a:ea typeface="+mn-lt"/>
                <a:cs typeface="+mn-lt"/>
              </a:rPr>
              <a:t>1D Convolutional kernels</a:t>
            </a:r>
            <a:r>
              <a:rPr lang="en-US" dirty="0">
                <a:ea typeface="+mn-lt"/>
                <a:cs typeface="+mn-lt"/>
              </a:rPr>
              <a:t> (filters) that slide over the signal. These filters act as automated "feature detectors" for slopes, peaks, and segments.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4. </a:t>
            </a:r>
            <a:r>
              <a:rPr lang="en-US" b="1" dirty="0">
                <a:ea typeface="+mn-lt"/>
                <a:cs typeface="+mn-lt"/>
              </a:rPr>
              <a:t>Decision Making (Fully Connected Layers):</a:t>
            </a:r>
            <a:r>
              <a:rPr lang="en-US" dirty="0">
                <a:ea typeface="+mn-lt"/>
                <a:cs typeface="+mn-lt"/>
              </a:rPr>
              <a:t> After the convolutions find the patterns, these final layers act like a "voting committee" to decide which abnormality the patterns represent.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175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B5B683-168C-04F8-51F6-AC977664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506" y="476779"/>
            <a:ext cx="7588155" cy="843154"/>
          </a:xfrm>
        </p:spPr>
        <p:txBody>
          <a:bodyPr/>
          <a:lstStyle/>
          <a:p>
            <a:pPr algn="l"/>
            <a:r>
              <a:rPr lang="en-US" dirty="0"/>
              <a:t>System </a:t>
            </a:r>
            <a:r>
              <a:rPr lang="en-US"/>
              <a:t>Architecture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F9804-CD9D-BC60-FEDD-65EFF88D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85" y="1325086"/>
            <a:ext cx="11027834" cy="470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5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E9D0511-832E-508E-3B80-9ADC3A4C1AF0}"/>
              </a:ext>
            </a:extLst>
          </p:cNvPr>
          <p:cNvSpPr txBox="1"/>
          <p:nvPr/>
        </p:nvSpPr>
        <p:spPr>
          <a:xfrm>
            <a:off x="4645270" y="350063"/>
            <a:ext cx="28995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Segmented ECG Signal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360323-A767-6DEE-D2F1-B1702CF9E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02" y="880819"/>
            <a:ext cx="11027996" cy="278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38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354532-D2AC-8ACA-4B29-426E2875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D4BD7-156F-F48F-0F5A-0CD802836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6225"/>
            <a:ext cx="10653579" cy="3548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 evaluation of 1D CNN model is done using performance plot of </a:t>
            </a:r>
            <a:r>
              <a:rPr lang="en-US" b="1" dirty="0"/>
              <a:t>Precision</a:t>
            </a:r>
            <a:r>
              <a:rPr lang="en-US" dirty="0"/>
              <a:t>, </a:t>
            </a:r>
            <a:r>
              <a:rPr lang="en-US" b="1" dirty="0"/>
              <a:t>Recall</a:t>
            </a:r>
            <a:r>
              <a:rPr lang="en-US" dirty="0"/>
              <a:t> and </a:t>
            </a:r>
            <a:r>
              <a:rPr lang="en-US" b="1" dirty="0"/>
              <a:t>F1 Score</a:t>
            </a:r>
            <a:r>
              <a:rPr lang="en-US" dirty="0"/>
              <a:t> for all cardiac </a:t>
            </a:r>
            <a:r>
              <a:rPr lang="en-US"/>
              <a:t>abnormalities.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results demonstrates high precision and recall across all abnormalities ensuring that the </a:t>
            </a:r>
            <a:r>
              <a:rPr lang="en-US" dirty="0" err="1">
                <a:ea typeface="+mn-lt"/>
                <a:cs typeface="+mn-lt"/>
              </a:rPr>
              <a:t>amount</a:t>
            </a:r>
            <a:r>
              <a:rPr lang="en-US" dirty="0">
                <a:ea typeface="+mn-lt"/>
                <a:cs typeface="+mn-lt"/>
              </a:rPr>
              <a:t> of false positives and false negatives are within acceptable range.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15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417792-F11F-1AB1-3CC4-3D6D66831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07776"/>
              </p:ext>
            </p:extLst>
          </p:nvPr>
        </p:nvGraphicFramePr>
        <p:xfrm>
          <a:off x="1581733" y="527537"/>
          <a:ext cx="8837466" cy="499653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304443">
                  <a:extLst>
                    <a:ext uri="{9D8B030D-6E8A-4147-A177-3AD203B41FA5}">
                      <a16:colId xmlns:a16="http://schemas.microsoft.com/office/drawing/2014/main" val="4041252269"/>
                    </a:ext>
                  </a:extLst>
                </a:gridCol>
                <a:gridCol w="1844341">
                  <a:extLst>
                    <a:ext uri="{9D8B030D-6E8A-4147-A177-3AD203B41FA5}">
                      <a16:colId xmlns:a16="http://schemas.microsoft.com/office/drawing/2014/main" val="4085021416"/>
                    </a:ext>
                  </a:extLst>
                </a:gridCol>
                <a:gridCol w="1844341">
                  <a:extLst>
                    <a:ext uri="{9D8B030D-6E8A-4147-A177-3AD203B41FA5}">
                      <a16:colId xmlns:a16="http://schemas.microsoft.com/office/drawing/2014/main" val="317721264"/>
                    </a:ext>
                  </a:extLst>
                </a:gridCol>
                <a:gridCol w="1844341">
                  <a:extLst>
                    <a:ext uri="{9D8B030D-6E8A-4147-A177-3AD203B41FA5}">
                      <a16:colId xmlns:a16="http://schemas.microsoft.com/office/drawing/2014/main" val="2395999595"/>
                    </a:ext>
                  </a:extLst>
                </a:gridCol>
              </a:tblGrid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Recall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F1 Score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08088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1dAVB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51631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656888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SB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68504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RBBB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030804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LBBB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132004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AF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440263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WPW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810615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ST-Elevation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877979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V-Tach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885701"/>
                  </a:ext>
                </a:extLst>
              </a:tr>
              <a:tr h="454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PVC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1168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7401D8-F2F5-00E5-3A5A-810769BE520D}"/>
              </a:ext>
            </a:extLst>
          </p:cNvPr>
          <p:cNvSpPr txBox="1"/>
          <p:nvPr/>
        </p:nvSpPr>
        <p:spPr>
          <a:xfrm>
            <a:off x="4642012" y="5957602"/>
            <a:ext cx="32609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Precision, Recall, F1 scores</a:t>
            </a:r>
          </a:p>
        </p:txBody>
      </p:sp>
    </p:spTree>
    <p:extLst>
      <p:ext uri="{BB962C8B-B14F-4D97-AF65-F5344CB8AC3E}">
        <p14:creationId xmlns:p14="http://schemas.microsoft.com/office/powerpoint/2010/main" val="180032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4E8B34E-05FB-75AB-7139-071A75BCAF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0556598"/>
              </p:ext>
            </p:extLst>
          </p:nvPr>
        </p:nvGraphicFramePr>
        <p:xfrm>
          <a:off x="664309" y="1316649"/>
          <a:ext cx="10853614" cy="4889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C0B82EE-FC45-6E3E-B8CB-2C4A89E870CB}"/>
              </a:ext>
            </a:extLst>
          </p:cNvPr>
          <p:cNvSpPr txBox="1"/>
          <p:nvPr/>
        </p:nvSpPr>
        <p:spPr>
          <a:xfrm>
            <a:off x="4637942" y="655352"/>
            <a:ext cx="29678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Performance Plot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21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D967-A24E-7F26-373B-1EC2CB51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FE65-2CE2-846C-FB2F-C4595E00A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Integration of Explainable AI (XAI): </a:t>
            </a:r>
            <a:r>
              <a:rPr lang="en-US">
                <a:ea typeface="+mn-lt"/>
                <a:cs typeface="+mn-lt"/>
              </a:rPr>
              <a:t>A major barrier to AI adoption in medicine is the "black box" nature of neural networks. Future work will highlight exactly which part of the ECG signal (e.g., a widened QRS or an inverted T-wave) led the model to its diagnosis, providing clinicians with a visual "reasoning" they can trust.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Deployment on Edge Devices:</a:t>
            </a:r>
            <a:r>
              <a:rPr lang="en-US" dirty="0">
                <a:ea typeface="+mn-lt"/>
                <a:cs typeface="+mn-lt"/>
              </a:rPr>
              <a:t> Integrate this model to </a:t>
            </a:r>
            <a:r>
              <a:rPr lang="en-US">
                <a:ea typeface="+mn-lt"/>
                <a:cs typeface="+mn-lt"/>
              </a:rPr>
              <a:t>wearables for on-device arrhythmia detection in smartwatches and portable ECG patches.</a:t>
            </a:r>
            <a:endParaRPr lang="en-US" dirty="0">
              <a:ea typeface="+mn-lt"/>
              <a:cs typeface="+mn-lt"/>
            </a:endParaRPr>
          </a:p>
          <a:p>
            <a:r>
              <a:rPr lang="en-US" b="1"/>
              <a:t>Reduce Latency: </a:t>
            </a:r>
            <a:r>
              <a:rPr lang="en-US">
                <a:ea typeface="+mn-lt"/>
                <a:cs typeface="+mn-lt"/>
              </a:rPr>
              <a:t>A potential bottleneck in the current workflow is the latency between data acquisition and model output to minimize computation time and move toward Real-Time Clinical Monitoring.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69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489D9-DB63-9B82-8D9B-A1FFDD369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19CAD-CB95-E258-FF98-003674C65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71032"/>
            <a:ext cx="10653579" cy="5038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Book</a:t>
            </a:r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[1] R. Kumar, </a:t>
            </a:r>
            <a:r>
              <a:rPr lang="en-US" sz="1600" i="1" dirty="0">
                <a:ea typeface="+mn-lt"/>
                <a:cs typeface="+mn-lt"/>
              </a:rPr>
              <a:t>Bio-Medical Signal Processing</a:t>
            </a:r>
            <a:r>
              <a:rPr lang="en-US" sz="1600" dirty="0">
                <a:ea typeface="+mn-lt"/>
                <a:cs typeface="+mn-lt"/>
              </a:rPr>
              <a:t>, 1st ed. New Delhi, India: S.K. Kataria &amp; Sons, 2024.</a:t>
            </a:r>
          </a:p>
          <a:p>
            <a:pPr marL="285750" indent="-285750"/>
            <a:r>
              <a:rPr lang="en-US" sz="1600">
                <a:ea typeface="+mn-lt"/>
                <a:cs typeface="+mn-lt"/>
              </a:rPr>
              <a:t>Research Articles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[2] </a:t>
            </a:r>
            <a:r>
              <a:rPr lang="en-US" sz="1600" dirty="0" err="1">
                <a:ea typeface="+mn-lt"/>
                <a:cs typeface="+mn-lt"/>
              </a:rPr>
              <a:t>Potharaju</a:t>
            </a:r>
            <a:r>
              <a:rPr lang="en-US" sz="1600" dirty="0">
                <a:ea typeface="+mn-lt"/>
                <a:cs typeface="+mn-lt"/>
              </a:rPr>
              <a:t>, S., "Multi-resolution hybrid sliding window approach for ECG arrhythmia detection using deep learning models." </a:t>
            </a:r>
            <a:r>
              <a:rPr lang="en-US" sz="1600" i="1" dirty="0">
                <a:ea typeface="+mn-lt"/>
                <a:cs typeface="+mn-lt"/>
              </a:rPr>
              <a:t>International Scientific Journal of Engineering and Management, 2026</a:t>
            </a:r>
          </a:p>
          <a:p>
            <a:pPr marL="0" indent="0">
              <a:buNone/>
            </a:pPr>
            <a:r>
              <a:rPr lang="en-US" sz="1600" i="1" dirty="0">
                <a:ea typeface="+mn-lt"/>
                <a:cs typeface="+mn-lt"/>
              </a:rPr>
              <a:t>[3] </a:t>
            </a:r>
            <a:r>
              <a:rPr lang="en-US" sz="1600">
                <a:ea typeface="+mn-lt"/>
                <a:cs typeface="+mn-lt"/>
              </a:rPr>
              <a:t>Rahman, A., "ECG Classification for Detecting ECG Arrhythmia Empowered with </a:t>
            </a:r>
            <a:r>
              <a:rPr lang="en-US" sz="1600" dirty="0">
                <a:ea typeface="+mn-lt"/>
                <a:cs typeface="+mn-lt"/>
              </a:rPr>
              <a:t>Deep Learning Approaches." </a:t>
            </a:r>
            <a:r>
              <a:rPr lang="en-US" sz="1600" i="1" dirty="0">
                <a:ea typeface="+mn-lt"/>
                <a:cs typeface="+mn-lt"/>
              </a:rPr>
              <a:t>International Journal of Intelligent Systems, 2026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[4] Wagner, P., "PTB-XL, a large publicly available electrocardiography dataset." </a:t>
            </a:r>
            <a:r>
              <a:rPr lang="en-US" sz="1600" i="1">
                <a:ea typeface="+mn-lt"/>
                <a:cs typeface="+mn-lt"/>
              </a:rPr>
              <a:t>Scientific Data, 2020.</a:t>
            </a:r>
            <a:endParaRPr lang="en-US" sz="1600" i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i="1" dirty="0">
                <a:ea typeface="+mn-lt"/>
                <a:cs typeface="+mn-lt"/>
              </a:rPr>
              <a:t>[5] </a:t>
            </a:r>
            <a:r>
              <a:rPr lang="en-US" sz="1600">
                <a:ea typeface="+mn-lt"/>
                <a:cs typeface="+mn-lt"/>
              </a:rPr>
              <a:t>Zhu, H., "A Multi-Scale 1D Convolutional Neural Network for ECG Classification." </a:t>
            </a:r>
            <a:r>
              <a:rPr lang="en-US" sz="1600" i="1" dirty="0">
                <a:ea typeface="+mn-lt"/>
                <a:cs typeface="+mn-lt"/>
              </a:rPr>
              <a:t>IEEE Access, 2021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i="1" dirty="0">
                <a:ea typeface="+mn-lt"/>
                <a:cs typeface="+mn-lt"/>
              </a:rPr>
              <a:t>[6] </a:t>
            </a:r>
            <a:r>
              <a:rPr lang="en-US" sz="1600">
                <a:ea typeface="+mn-lt"/>
                <a:cs typeface="+mn-lt"/>
              </a:rPr>
              <a:t>Sahoo, S., "Arrhythmia Classification Using 1D Convolutional Neural Network." </a:t>
            </a:r>
            <a:r>
              <a:rPr lang="en-US" sz="1600" i="1" dirty="0">
                <a:ea typeface="+mn-lt"/>
                <a:cs typeface="+mn-lt"/>
              </a:rPr>
              <a:t>2020 International Conference on Communication and Signal Processing (ICCSP), 2020.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i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8803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D8AEF-9FFA-0A12-EF8A-93A4FD44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CD3765B-C92A-96E2-AD39-0C9C44BDE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9E62F-3E6B-F9C0-8F7D-76CB8A5FF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2085" y="3271630"/>
            <a:ext cx="7319303" cy="754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THANK YOU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4" name="Picture 3" descr="A red and white circle with text and a star&#10;&#10;AI-generated content may be incorrect.">
            <a:extLst>
              <a:ext uri="{FF2B5EF4-FFF2-40B4-BE49-F238E27FC236}">
                <a16:creationId xmlns:a16="http://schemas.microsoft.com/office/drawing/2014/main" id="{90B9A754-D675-4C81-C039-68B96C8E04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" r="-2" b="-2"/>
          <a:stretch>
            <a:fillRect/>
          </a:stretch>
        </p:blipFill>
        <p:spPr>
          <a:xfrm>
            <a:off x="4664361" y="275731"/>
            <a:ext cx="2871461" cy="299422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F7DDE10-AD60-4528-D5C3-A61C7D3A3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9181" y="4311709"/>
            <a:ext cx="4895720" cy="20631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2022UIC3598                </a:t>
            </a:r>
            <a:r>
              <a:rPr lang="en-GB"/>
              <a:t>MAYANK KUMAR</a:t>
            </a:r>
            <a:endParaRPr lang="en-US"/>
          </a:p>
          <a:p>
            <a:pPr algn="l"/>
            <a:r>
              <a:rPr lang="en-US"/>
              <a:t>2022UIC3603                RITIK JAIN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2022UIC3605                </a:t>
            </a:r>
            <a:r>
              <a:rPr lang="en-US"/>
              <a:t>AKHSAY SHARMA</a:t>
            </a:r>
          </a:p>
          <a:p>
            <a:pPr algn="l"/>
            <a:r>
              <a:rPr lang="en-US"/>
              <a:t>2022UIC3635                SHANU YADAV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402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VanillaVTI</vt:lpstr>
      <vt:lpstr>ECG Analysis using ML</vt:lpstr>
      <vt:lpstr>CONTENTS</vt:lpstr>
      <vt:lpstr>INTRODUCTION</vt:lpstr>
      <vt:lpstr>Gaps Identified      </vt:lpstr>
      <vt:lpstr>Aim of the Project</vt:lpstr>
      <vt:lpstr>Dataset and Preprocessing</vt:lpstr>
      <vt:lpstr>PowerPoint Presentation</vt:lpstr>
      <vt:lpstr>Solution Methodology </vt:lpstr>
      <vt:lpstr>System Architecture</vt:lpstr>
      <vt:lpstr>PowerPoint Presentation</vt:lpstr>
      <vt:lpstr>RESULT</vt:lpstr>
      <vt:lpstr>PowerPoint Presentation</vt:lpstr>
      <vt:lpstr>PowerPoint Presentation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562</cp:revision>
  <dcterms:created xsi:type="dcterms:W3CDTF">2026-05-13T07:28:35Z</dcterms:created>
  <dcterms:modified xsi:type="dcterms:W3CDTF">2026-05-14T00:02:09Z</dcterms:modified>
</cp:coreProperties>
</file>